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88" r:id="rId5"/>
    <p:sldId id="289" r:id="rId6"/>
    <p:sldId id="290" r:id="rId7"/>
    <p:sldId id="310" r:id="rId8"/>
    <p:sldId id="292" r:id="rId9"/>
    <p:sldId id="293" r:id="rId10"/>
    <p:sldId id="291" r:id="rId11"/>
    <p:sldId id="297" r:id="rId12"/>
    <p:sldId id="294" r:id="rId13"/>
    <p:sldId id="295" r:id="rId14"/>
    <p:sldId id="296" r:id="rId15"/>
    <p:sldId id="298" r:id="rId16"/>
    <p:sldId id="311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7" r:id="rId25"/>
    <p:sldId id="309" r:id="rId26"/>
    <p:sldId id="308" r:id="rId27"/>
    <p:sldId id="306" r:id="rId28"/>
    <p:sldId id="312" r:id="rId29"/>
    <p:sldId id="314" r:id="rId30"/>
    <p:sldId id="313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6327"/>
  </p:normalViewPr>
  <p:slideViewPr>
    <p:cSldViewPr snapToGrid="0" snapToObjects="1">
      <p:cViewPr varScale="1">
        <p:scale>
          <a:sx n="85" d="100"/>
          <a:sy n="85" d="100"/>
        </p:scale>
        <p:origin x="1008" y="84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7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k/kpi.asp" TargetMode="External"/><Relationship Id="rId2" Type="http://schemas.openxmlformats.org/officeDocument/2006/relationships/hyperlink" Target="https://www.clearpointstrategy.com/blog/18-key-performance-indicator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perpet.io/blog/what-should-be-ui-ux-design-of-fitness-app/" TargetMode="External"/><Relationship Id="rId4" Type="http://schemas.openxmlformats.org/officeDocument/2006/relationships/hyperlink" Target="https://confluence.atlassian.com/jira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E8B2B-D684-8840-AAB5-5EFB37EB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3327"/>
            <a:ext cx="8229600" cy="85725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HealthMate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109F37-4B31-EA4B-937E-279DA28C4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3070577"/>
            <a:ext cx="8229600" cy="1338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02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Asfiya Misba – 1002028239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Sahiba Khan - 1002083293		</a:t>
            </a:r>
          </a:p>
        </p:txBody>
      </p:sp>
      <p:pic>
        <p:nvPicPr>
          <p:cNvPr id="5" name="Picture 4" descr="New slide icon">
            <a:extLst>
              <a:ext uri="{FF2B5EF4-FFF2-40B4-BE49-F238E27FC236}">
                <a16:creationId xmlns:a16="http://schemas.microsoft.com/office/drawing/2014/main" id="{F71C5629-8307-F543-9E47-1A7EC6A50C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31"/>
          <a:stretch/>
        </p:blipFill>
        <p:spPr>
          <a:xfrm>
            <a:off x="7574846" y="1469787"/>
            <a:ext cx="531771" cy="685800"/>
          </a:xfrm>
          <a:prstGeom prst="rect">
            <a:avLst/>
          </a:prstGeom>
        </p:spPr>
      </p:pic>
      <p:pic>
        <p:nvPicPr>
          <p:cNvPr id="6" name="Picture 5" descr="A cartoon of a child and a yellow monster&#10;&#10;Description automatically generated">
            <a:extLst>
              <a:ext uri="{FF2B5EF4-FFF2-40B4-BE49-F238E27FC236}">
                <a16:creationId xmlns:a16="http://schemas.microsoft.com/office/drawing/2014/main" id="{96A68839-F948-B85D-E405-0ECDC0433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882" y="545862"/>
            <a:ext cx="2662236" cy="184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2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D1FAD-106A-BA9A-5D5C-D58472D50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3764844" cy="3098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00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D1FAD-106A-BA9A-5D5C-D58472D503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is dedicated to fostering holistic wellness by combining cutting-edge technology with a user-centric approach.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core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is a commitment to providing a seamless and personalized experience for every user. From a secure and easy registration process to detailed profile management, the app ensures that each individual can tailor their health journey according to their unique preferences  and fitness objectives.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an innovative approach to hydration management. The app includes dynamic water intake reminders, offering customizable notifications and real-time monitoring to ensure users maintain optimal hydration levels throughout the day.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revolutionize the way users track and achieve their fitness goals. </a:t>
            </a:r>
          </a:p>
        </p:txBody>
      </p:sp>
    </p:spTree>
    <p:extLst>
      <p:ext uri="{BB962C8B-B14F-4D97-AF65-F5344CB8AC3E}">
        <p14:creationId xmlns:p14="http://schemas.microsoft.com/office/powerpoint/2010/main" val="132089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Model - Agile</a:t>
            </a:r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A6564D28-6928-DA22-905E-C937ECA9A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016" y="1096249"/>
            <a:ext cx="5101162" cy="348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8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44" y="2077156"/>
            <a:ext cx="2178166" cy="6999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16D27B-A4AA-3E5C-2809-BCEDED738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410" y="1"/>
            <a:ext cx="685859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4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- Gantt Chart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DD1507-91DC-0D65-A7A4-A16D2D910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78" y="1096249"/>
            <a:ext cx="7694043" cy="323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22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– ER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9FDB84F-BD4E-3D70-43D8-14A4AB5A3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51" y="1243115"/>
            <a:ext cx="7608498" cy="307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05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66" y="2056510"/>
            <a:ext cx="3436938" cy="85725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- Flowchart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AC613FD-A616-DDE0-E70E-47A2E99C2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863" y="0"/>
            <a:ext cx="1357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93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Burndown Charts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A6EF0C1-4577-D6A7-B72B-31F32042F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0" y="1464964"/>
            <a:ext cx="4392581" cy="263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4EC87D35-F914-7C7E-D804-69DAFCC48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859" y="1464963"/>
            <a:ext cx="4392581" cy="263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915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Burndown Charts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69C10DE-917F-8DFB-CAAB-C9AB932C5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44" y="1362973"/>
            <a:ext cx="4206732" cy="25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">
            <a:extLst>
              <a:ext uri="{FF2B5EF4-FFF2-40B4-BE49-F238E27FC236}">
                <a16:creationId xmlns:a16="http://schemas.microsoft.com/office/drawing/2014/main" id="{E30B9868-C98D-93F5-B78E-D0A3E31A2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246" y="1362972"/>
            <a:ext cx="4205109" cy="252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50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066-E747-A3F3-CFCC-D26AFA8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Burndown Charts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89BEA5B-5E79-9AF3-9223-EC9C3AE66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9" y="1245183"/>
            <a:ext cx="4415768" cy="265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2FD77D2-A4F5-5480-3E04-6A2027911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45182"/>
            <a:ext cx="4415768" cy="265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681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30B71-D79C-4808-506A-5E1D6B83C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48177"/>
            <a:ext cx="4114800" cy="2546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Tools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Front-end: React Native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Jest, Mocha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00B5F4F9-7226-500E-CC97-790BA2099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260" y="326151"/>
            <a:ext cx="2084280" cy="45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672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30B71-D79C-4808-506A-5E1D6B83C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6244" y="1712640"/>
            <a:ext cx="3150774" cy="21425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7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  <a:p>
            <a:pPr fontAlgn="base"/>
            <a:r>
              <a:rPr lang="en-US" sz="17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 Module</a:t>
            </a:r>
          </a:p>
          <a:p>
            <a:pPr fontAlgn="base"/>
            <a:r>
              <a:rPr lang="en-US" sz="17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Intake Reminder Module</a:t>
            </a:r>
          </a:p>
          <a:p>
            <a:pPr fontAlgn="base"/>
            <a:r>
              <a:rPr lang="en-US" sz="17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 Goal Tracking Module</a:t>
            </a:r>
          </a:p>
          <a:p>
            <a:pPr fontAlgn="base"/>
            <a:r>
              <a:rPr lang="en-US" sz="17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 Video Access Module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artoon of a glass with a straw and a ball&#10;&#10;Description automatically generated">
            <a:extLst>
              <a:ext uri="{FF2B5EF4-FFF2-40B4-BE49-F238E27FC236}">
                <a16:creationId xmlns:a16="http://schemas.microsoft.com/office/drawing/2014/main" id="{1CFCFF99-7770-6C48-683E-F95BDB02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14" y="1049194"/>
            <a:ext cx="2397114" cy="1797835"/>
          </a:xfrm>
          <a:prstGeom prst="rect">
            <a:avLst/>
          </a:prstGeom>
        </p:spPr>
      </p:pic>
      <p:pic>
        <p:nvPicPr>
          <p:cNvPr id="7" name="Picture 6" descr="A cell phone with a face and a globe&#10;&#10;Description automatically generated with medium confidence">
            <a:extLst>
              <a:ext uri="{FF2B5EF4-FFF2-40B4-BE49-F238E27FC236}">
                <a16:creationId xmlns:a16="http://schemas.microsoft.com/office/drawing/2014/main" id="{46993175-5A2C-643A-44FC-B2ACBE8AC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53" y="3101487"/>
            <a:ext cx="2952610" cy="1741578"/>
          </a:xfrm>
          <a:prstGeom prst="rect">
            <a:avLst/>
          </a:prstGeom>
        </p:spPr>
      </p:pic>
      <p:pic>
        <p:nvPicPr>
          <p:cNvPr id="9" name="Picture 8" descr="A screen shot of a smart watch&#10;&#10;Description automatically generated">
            <a:extLst>
              <a:ext uri="{FF2B5EF4-FFF2-40B4-BE49-F238E27FC236}">
                <a16:creationId xmlns:a16="http://schemas.microsoft.com/office/drawing/2014/main" id="{616FABF8-EA13-25A9-F622-29B8ECF3B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548" y="1096249"/>
            <a:ext cx="2250252" cy="1687689"/>
          </a:xfrm>
          <a:prstGeom prst="rect">
            <a:avLst/>
          </a:prstGeom>
        </p:spPr>
      </p:pic>
      <p:pic>
        <p:nvPicPr>
          <p:cNvPr id="11" name="Picture 10" descr="A hand holding a phone&#10;&#10;Description automatically generated">
            <a:extLst>
              <a:ext uri="{FF2B5EF4-FFF2-40B4-BE49-F238E27FC236}">
                <a16:creationId xmlns:a16="http://schemas.microsoft.com/office/drawing/2014/main" id="{51B6129F-A900-2514-8557-79DEDEC17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018" y="3101487"/>
            <a:ext cx="2952610" cy="166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1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– Sprint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4485A4-AFD7-BC12-5D87-E365AB8E3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468418"/>
              </p:ext>
            </p:extLst>
          </p:nvPr>
        </p:nvGraphicFramePr>
        <p:xfrm>
          <a:off x="939799" y="896958"/>
          <a:ext cx="7422446" cy="3726090"/>
        </p:xfrm>
        <a:graphic>
          <a:graphicData uri="http://schemas.openxmlformats.org/drawingml/2006/table">
            <a:tbl>
              <a:tblPr/>
              <a:tblGrid>
                <a:gridCol w="1703047">
                  <a:extLst>
                    <a:ext uri="{9D8B030D-6E8A-4147-A177-3AD203B41FA5}">
                      <a16:colId xmlns:a16="http://schemas.microsoft.com/office/drawing/2014/main" val="3796668937"/>
                    </a:ext>
                  </a:extLst>
                </a:gridCol>
                <a:gridCol w="936675">
                  <a:extLst>
                    <a:ext uri="{9D8B030D-6E8A-4147-A177-3AD203B41FA5}">
                      <a16:colId xmlns:a16="http://schemas.microsoft.com/office/drawing/2014/main" val="4112789524"/>
                    </a:ext>
                  </a:extLst>
                </a:gridCol>
                <a:gridCol w="2469419">
                  <a:extLst>
                    <a:ext uri="{9D8B030D-6E8A-4147-A177-3AD203B41FA5}">
                      <a16:colId xmlns:a16="http://schemas.microsoft.com/office/drawing/2014/main" val="2380355274"/>
                    </a:ext>
                  </a:extLst>
                </a:gridCol>
                <a:gridCol w="1703047">
                  <a:extLst>
                    <a:ext uri="{9D8B030D-6E8A-4147-A177-3AD203B41FA5}">
                      <a16:colId xmlns:a16="http://schemas.microsoft.com/office/drawing/2014/main" val="1377314844"/>
                    </a:ext>
                  </a:extLst>
                </a:gridCol>
                <a:gridCol w="610258">
                  <a:extLst>
                    <a:ext uri="{9D8B030D-6E8A-4147-A177-3AD203B41FA5}">
                      <a16:colId xmlns:a16="http://schemas.microsoft.com/office/drawing/2014/main" val="3563029250"/>
                    </a:ext>
                  </a:extLst>
                </a:gridCol>
              </a:tblGrid>
              <a:tr h="14277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Description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Steps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051133"/>
                  </a:ext>
                </a:extLst>
              </a:tr>
              <a:tr h="265145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all stakeholders' inputs are collected.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Gather input from stakeholders.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Stakeholders' inputs are documented.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629261"/>
                  </a:ext>
                </a:extLst>
              </a:tr>
              <a:tr h="448707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that non-functional requirements are considered.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Review non-functional requirements (e.g., responsiveness, accessibility).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Non-functional requirements are incorporated into design decisions.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823566"/>
                  </a:ext>
                </a:extLst>
              </a:tr>
              <a:tr h="38752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 messages for missing or unclear UI requirements.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Review UI requirements documentation.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documentation with no missing elements.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724417"/>
                  </a:ext>
                </a:extLst>
              </a:tr>
              <a:tr h="32633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wireframes cover all UI elements in requirements.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Review wireframes against UI requirements.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Wireframes align with UI requirements.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695319"/>
                  </a:ext>
                </a:extLst>
              </a:tr>
              <a:tr h="509894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wireframes' understandability for all team members.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Gather feedback on wireframes from both technical and non-technical team members.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Wireframes are easily understandable by all team members.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570506"/>
                  </a:ext>
                </a:extLst>
              </a:tr>
              <a:tr h="32633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messages for missing or incomplete wireframes.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Validate completeness of wireframes.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missing or incomplete wireframes.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737343"/>
                  </a:ext>
                </a:extLst>
              </a:tr>
              <a:tr h="448707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 messages or warnings in the design iteration process.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Iteratively review and refine design.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errors or warnings are present in the design iterations.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245593"/>
                  </a:ext>
                </a:extLst>
              </a:tr>
              <a:tr h="448707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stakeholders are informed of errors or inconsistencies.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Communicate design errors or inconsistencies to stakeholders.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Stakeholders are aware and informed of any design issues.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0951" marR="20951" marT="10476" marB="10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030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326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– Sprint 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085924-6E41-50B7-467D-B37DFDD7F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879878"/>
              </p:ext>
            </p:extLst>
          </p:nvPr>
        </p:nvGraphicFramePr>
        <p:xfrm>
          <a:off x="807155" y="824089"/>
          <a:ext cx="7958667" cy="3747291"/>
        </p:xfrm>
        <a:graphic>
          <a:graphicData uri="http://schemas.openxmlformats.org/drawingml/2006/table">
            <a:tbl>
              <a:tblPr/>
              <a:tblGrid>
                <a:gridCol w="2144063">
                  <a:extLst>
                    <a:ext uri="{9D8B030D-6E8A-4147-A177-3AD203B41FA5}">
                      <a16:colId xmlns:a16="http://schemas.microsoft.com/office/drawing/2014/main" val="4184416515"/>
                    </a:ext>
                  </a:extLst>
                </a:gridCol>
                <a:gridCol w="967893">
                  <a:extLst>
                    <a:ext uri="{9D8B030D-6E8A-4147-A177-3AD203B41FA5}">
                      <a16:colId xmlns:a16="http://schemas.microsoft.com/office/drawing/2014/main" val="2387738358"/>
                    </a:ext>
                  </a:extLst>
                </a:gridCol>
                <a:gridCol w="1919856">
                  <a:extLst>
                    <a:ext uri="{9D8B030D-6E8A-4147-A177-3AD203B41FA5}">
                      <a16:colId xmlns:a16="http://schemas.microsoft.com/office/drawing/2014/main" val="1216352302"/>
                    </a:ext>
                  </a:extLst>
                </a:gridCol>
                <a:gridCol w="2429530">
                  <a:extLst>
                    <a:ext uri="{9D8B030D-6E8A-4147-A177-3AD203B41FA5}">
                      <a16:colId xmlns:a16="http://schemas.microsoft.com/office/drawing/2014/main" val="4143423783"/>
                    </a:ext>
                  </a:extLst>
                </a:gridCol>
                <a:gridCol w="497325">
                  <a:extLst>
                    <a:ext uri="{9D8B030D-6E8A-4147-A177-3AD203B41FA5}">
                      <a16:colId xmlns:a16="http://schemas.microsoft.com/office/drawing/2014/main" val="1942168784"/>
                    </a:ext>
                  </a:extLst>
                </a:gridCol>
              </a:tblGrid>
              <a:tr h="139707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Description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Steps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693543"/>
                  </a:ext>
                </a:extLst>
              </a:tr>
              <a:tr h="395213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database schema alignment with application data model.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Review the database schema against the application's data model.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schema aligns with the data model.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789730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appropriate error messages during database setup.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errors during database setup.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are displayed for each scenario.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568313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invalid database structure definitions.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provide invalid structure definitions.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gracefully handles invalid structure definitions.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685066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messages for incorrect relationships or cardinalities.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set incorrect relationships.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messages indicate incorrect relationships.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898799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system alerts for potential integrity violations.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violate data integrity.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alerts users to potential integrity violations.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149438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errors in depicting relationships and cardinalities.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Review graphical depiction of relationships.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Relationships and cardinalities are accurately depicted.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714197"/>
                  </a:ext>
                </a:extLst>
              </a:tr>
              <a:tr h="314858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errors when dependencies cannot be installed.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dependency installation.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are displayed for failed dependencies.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241230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setup process gracefully handles configuration errors.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provide incorrect configuration.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 process gracefully handles configuration errors.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062165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messages for failures in environment setup.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environment setup failures.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environment setup.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61060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appropriate error responses for invalid API requests.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Make invalid API requests.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invalid requests.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677038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frontend gracefully handles errors in data fetching.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errors during frontend data fetching.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gracefully handles errors and provides feedback.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46878"/>
                  </a:ext>
                </a:extLst>
              </a:tr>
              <a:tr h="26746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responses for failed endpoint access.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Attempt to access non-existing endpoints.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endpoint access.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4261" marR="14261" marT="7130" marB="7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186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562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– Sprint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CF541-D988-4F1F-E182-B2C9F75F1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87537"/>
              </p:ext>
            </p:extLst>
          </p:nvPr>
        </p:nvGraphicFramePr>
        <p:xfrm>
          <a:off x="818444" y="824089"/>
          <a:ext cx="8037689" cy="3624037"/>
        </p:xfrm>
        <a:graphic>
          <a:graphicData uri="http://schemas.openxmlformats.org/drawingml/2006/table">
            <a:tbl>
              <a:tblPr/>
              <a:tblGrid>
                <a:gridCol w="1985246">
                  <a:extLst>
                    <a:ext uri="{9D8B030D-6E8A-4147-A177-3AD203B41FA5}">
                      <a16:colId xmlns:a16="http://schemas.microsoft.com/office/drawing/2014/main" val="429844268"/>
                    </a:ext>
                  </a:extLst>
                </a:gridCol>
                <a:gridCol w="1229830">
                  <a:extLst>
                    <a:ext uri="{9D8B030D-6E8A-4147-A177-3AD203B41FA5}">
                      <a16:colId xmlns:a16="http://schemas.microsoft.com/office/drawing/2014/main" val="3888200669"/>
                    </a:ext>
                  </a:extLst>
                </a:gridCol>
                <a:gridCol w="1607538">
                  <a:extLst>
                    <a:ext uri="{9D8B030D-6E8A-4147-A177-3AD203B41FA5}">
                      <a16:colId xmlns:a16="http://schemas.microsoft.com/office/drawing/2014/main" val="2489370203"/>
                    </a:ext>
                  </a:extLst>
                </a:gridCol>
                <a:gridCol w="2464208">
                  <a:extLst>
                    <a:ext uri="{9D8B030D-6E8A-4147-A177-3AD203B41FA5}">
                      <a16:colId xmlns:a16="http://schemas.microsoft.com/office/drawing/2014/main" val="830416466"/>
                    </a:ext>
                  </a:extLst>
                </a:gridCol>
                <a:gridCol w="750867">
                  <a:extLst>
                    <a:ext uri="{9D8B030D-6E8A-4147-A177-3AD203B41FA5}">
                      <a16:colId xmlns:a16="http://schemas.microsoft.com/office/drawing/2014/main" val="484781103"/>
                    </a:ext>
                  </a:extLst>
                </a:gridCol>
              </a:tblGrid>
              <a:tr h="175317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Description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Steps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076625"/>
                  </a:ext>
                </a:extLst>
              </a:tr>
              <a:tr h="38384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 messages when user registration fails.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Attempt user registration with invalid data.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are displayed for registration failures.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953980"/>
                  </a:ext>
                </a:extLst>
              </a:tr>
              <a:tr h="38384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appropriate error responses for failed login attempts.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Attempt login with incorrect credentials.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login attempts.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219545"/>
                  </a:ext>
                </a:extLst>
              </a:tr>
              <a:tr h="486368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authentication token generation issues.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issues during token generation.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handles token generation issues gracefully.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606458"/>
                  </a:ext>
                </a:extLst>
              </a:tr>
              <a:tr h="486368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scenarios where user profile data cannot be retrieved.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has a registered account.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Invalidate user profile data retrieval.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profile data retrieval.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382180"/>
                  </a:ext>
                </a:extLst>
              </a:tr>
              <a:tr h="33084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errors during profile updates are communicated to the user.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profile updates.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informed of errors during profile updates.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988259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responses for failed profile data retrieval.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has a registered account.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Invalidate user profile data retrieval.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profile data retrieval.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582187"/>
                  </a:ext>
                </a:extLst>
              </a:tr>
              <a:tr h="38384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 messages when the dashboard cannot be loaded.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dashboard loading.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dashboard loading.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03628"/>
                  </a:ext>
                </a:extLst>
              </a:tr>
              <a:tr h="33084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error responses provided for failed data fetching.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data fetching.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data fetching.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030694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dashboard rendering issues.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dashboard rendering issues.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gracefully handles dashboard rendering issues.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395" marR="19395" marT="9697" marB="9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180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– Sprint 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C43B74-408C-2997-2D79-74448C974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0078"/>
              </p:ext>
            </p:extLst>
          </p:nvPr>
        </p:nvGraphicFramePr>
        <p:xfrm>
          <a:off x="818447" y="806039"/>
          <a:ext cx="8229599" cy="3528891"/>
        </p:xfrm>
        <a:graphic>
          <a:graphicData uri="http://schemas.openxmlformats.org/drawingml/2006/table">
            <a:tbl>
              <a:tblPr/>
              <a:tblGrid>
                <a:gridCol w="2086622">
                  <a:extLst>
                    <a:ext uri="{9D8B030D-6E8A-4147-A177-3AD203B41FA5}">
                      <a16:colId xmlns:a16="http://schemas.microsoft.com/office/drawing/2014/main" val="651479525"/>
                    </a:ext>
                  </a:extLst>
                </a:gridCol>
                <a:gridCol w="1205218">
                  <a:extLst>
                    <a:ext uri="{9D8B030D-6E8A-4147-A177-3AD203B41FA5}">
                      <a16:colId xmlns:a16="http://schemas.microsoft.com/office/drawing/2014/main" val="278183179"/>
                    </a:ext>
                  </a:extLst>
                </a:gridCol>
                <a:gridCol w="2032850">
                  <a:extLst>
                    <a:ext uri="{9D8B030D-6E8A-4147-A177-3AD203B41FA5}">
                      <a16:colId xmlns:a16="http://schemas.microsoft.com/office/drawing/2014/main" val="1474507500"/>
                    </a:ext>
                  </a:extLst>
                </a:gridCol>
                <a:gridCol w="1963883">
                  <a:extLst>
                    <a:ext uri="{9D8B030D-6E8A-4147-A177-3AD203B41FA5}">
                      <a16:colId xmlns:a16="http://schemas.microsoft.com/office/drawing/2014/main" val="4168959382"/>
                    </a:ext>
                  </a:extLst>
                </a:gridCol>
                <a:gridCol w="941026">
                  <a:extLst>
                    <a:ext uri="{9D8B030D-6E8A-4147-A177-3AD203B41FA5}">
                      <a16:colId xmlns:a16="http://schemas.microsoft.com/office/drawing/2014/main" val="4123330451"/>
                    </a:ext>
                  </a:extLst>
                </a:gridCol>
              </a:tblGrid>
              <a:tr h="178045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Description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Steps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34920"/>
                  </a:ext>
                </a:extLst>
              </a:tr>
              <a:tr h="339294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cases where user profiles cannot be edited.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Invalidate user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471924"/>
                  </a:ext>
                </a:extLst>
              </a:tr>
              <a:tr h="33568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errors during profile editing are communicated to the user.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informed of errors during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326636"/>
                  </a:ext>
                </a:extLst>
              </a:tr>
              <a:tr h="33568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responses for failed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Invalidate user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036882"/>
                  </a:ext>
                </a:extLst>
              </a:tr>
              <a:tr h="493315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errors during the logout process and display appropriate messages.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logout process.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logout failure.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93165"/>
                  </a:ext>
                </a:extLst>
              </a:tr>
              <a:tr h="493315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attempting to log out without proper authentication results in an error.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Attempt to log out without authentication.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unauthorized logout.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673460"/>
                  </a:ext>
                </a:extLst>
              </a:tr>
              <a:tr h="335680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logout failure scenarios.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logout failure scenarios.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logout failure.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094431"/>
                  </a:ext>
                </a:extLst>
              </a:tr>
              <a:tr h="339294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messages displayed for invalid profile creation attempts.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Attempt to create a profile with invalid data.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invalid profile creation.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523978"/>
                  </a:ext>
                </a:extLst>
              </a:tr>
              <a:tr h="339294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appropriate error responses for failed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profile editing.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265404"/>
                  </a:ext>
                </a:extLst>
              </a:tr>
              <a:tr h="339294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messages for profile creation failures.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profile creation failure scenarios.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profile creation failures.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9733" marR="19733" marT="9866" marB="9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887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08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– Sprint 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C4B984-9CFF-6BF2-C5BB-A8D062CCC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63958"/>
              </p:ext>
            </p:extLst>
          </p:nvPr>
        </p:nvGraphicFramePr>
        <p:xfrm>
          <a:off x="620890" y="835024"/>
          <a:ext cx="8365065" cy="3387019"/>
        </p:xfrm>
        <a:graphic>
          <a:graphicData uri="http://schemas.openxmlformats.org/drawingml/2006/table">
            <a:tbl>
              <a:tblPr/>
              <a:tblGrid>
                <a:gridCol w="2123020">
                  <a:extLst>
                    <a:ext uri="{9D8B030D-6E8A-4147-A177-3AD203B41FA5}">
                      <a16:colId xmlns:a16="http://schemas.microsoft.com/office/drawing/2014/main" val="676759737"/>
                    </a:ext>
                  </a:extLst>
                </a:gridCol>
                <a:gridCol w="1223006">
                  <a:extLst>
                    <a:ext uri="{9D8B030D-6E8A-4147-A177-3AD203B41FA5}">
                      <a16:colId xmlns:a16="http://schemas.microsoft.com/office/drawing/2014/main" val="957038643"/>
                    </a:ext>
                  </a:extLst>
                </a:gridCol>
                <a:gridCol w="1673013">
                  <a:extLst>
                    <a:ext uri="{9D8B030D-6E8A-4147-A177-3AD203B41FA5}">
                      <a16:colId xmlns:a16="http://schemas.microsoft.com/office/drawing/2014/main" val="2296680572"/>
                    </a:ext>
                  </a:extLst>
                </a:gridCol>
                <a:gridCol w="2366171">
                  <a:extLst>
                    <a:ext uri="{9D8B030D-6E8A-4147-A177-3AD203B41FA5}">
                      <a16:colId xmlns:a16="http://schemas.microsoft.com/office/drawing/2014/main" val="1699973195"/>
                    </a:ext>
                  </a:extLst>
                </a:gridCol>
                <a:gridCol w="979855">
                  <a:extLst>
                    <a:ext uri="{9D8B030D-6E8A-4147-A177-3AD203B41FA5}">
                      <a16:colId xmlns:a16="http://schemas.microsoft.com/office/drawing/2014/main" val="432431958"/>
                    </a:ext>
                  </a:extLst>
                </a:gridCol>
              </a:tblGrid>
              <a:tr h="168187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Description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Steps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795501"/>
                  </a:ext>
                </a:extLst>
              </a:tr>
              <a:tr h="358261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 messages when saving water intake reminder settings fails.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saving reminder settings.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reminder setting updates.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870877"/>
                  </a:ext>
                </a:extLst>
              </a:tr>
              <a:tr h="358261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errors during reminder setting updates are communicated to the user.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errors during reminder setting updates.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informed of errors during reminder setting updates.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828111"/>
                  </a:ext>
                </a:extLst>
              </a:tr>
              <a:tr h="358261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failed reminder setting updates.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saving reminder settings.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reminder setting updates.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674163"/>
                  </a:ext>
                </a:extLst>
              </a:tr>
              <a:tr h="407115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scenarios where the fitness dashboard cannot be displayed.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failure in loading the fitness dashboard.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dashboard rendering.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13437"/>
                  </a:ext>
                </a:extLst>
              </a:tr>
              <a:tr h="466854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that errors are communicated during UI interactions with fitness tracking.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UI interactions in fitness tracking.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informed of errors during UI interactions.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375816"/>
                  </a:ext>
                </a:extLst>
              </a:tr>
              <a:tr h="31752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messages for failed dashboard rendering.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Simulate failure in loading the fitness dashboard.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dashboard rendering.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926043"/>
                  </a:ext>
                </a:extLst>
              </a:tr>
              <a:tr h="31752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 messages when reminders fail to trigger.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reminder triggering.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reminder triggering.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91924"/>
                  </a:ext>
                </a:extLst>
              </a:tr>
              <a:tr h="31752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errors during reminder processing are logged for investigation.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Monitor system logs during reminder processing.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 during reminder processing are logged for investigation.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11957"/>
                  </a:ext>
                </a:extLst>
              </a:tr>
              <a:tr h="317520"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error handling for reminder setting failures.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is logged in.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Intentionally fail reminder setting.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responses for failed reminder setting.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17317" marR="17317" marT="8658" marB="86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262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512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– Sprint 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179C02-1E7F-0F8D-AAB6-BF0D52F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577082"/>
              </p:ext>
            </p:extLst>
          </p:nvPr>
        </p:nvGraphicFramePr>
        <p:xfrm>
          <a:off x="406400" y="824088"/>
          <a:ext cx="8489245" cy="3420531"/>
        </p:xfrm>
        <a:graphic>
          <a:graphicData uri="http://schemas.openxmlformats.org/drawingml/2006/table">
            <a:tbl>
              <a:tblPr/>
              <a:tblGrid>
                <a:gridCol w="2427111">
                  <a:extLst>
                    <a:ext uri="{9D8B030D-6E8A-4147-A177-3AD203B41FA5}">
                      <a16:colId xmlns:a16="http://schemas.microsoft.com/office/drawing/2014/main" val="2606945"/>
                    </a:ext>
                  </a:extLst>
                </a:gridCol>
                <a:gridCol w="968587">
                  <a:extLst>
                    <a:ext uri="{9D8B030D-6E8A-4147-A177-3AD203B41FA5}">
                      <a16:colId xmlns:a16="http://schemas.microsoft.com/office/drawing/2014/main" val="2706316726"/>
                    </a:ext>
                  </a:extLst>
                </a:gridCol>
                <a:gridCol w="1697849">
                  <a:extLst>
                    <a:ext uri="{9D8B030D-6E8A-4147-A177-3AD203B41FA5}">
                      <a16:colId xmlns:a16="http://schemas.microsoft.com/office/drawing/2014/main" val="2068925496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503412319"/>
                    </a:ext>
                  </a:extLst>
                </a:gridCol>
                <a:gridCol w="835378">
                  <a:extLst>
                    <a:ext uri="{9D8B030D-6E8A-4147-A177-3AD203B41FA5}">
                      <a16:colId xmlns:a16="http://schemas.microsoft.com/office/drawing/2014/main" val="2735628369"/>
                    </a:ext>
                  </a:extLst>
                </a:gridCol>
              </a:tblGrid>
              <a:tr h="188534"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Description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Steps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797876"/>
                  </a:ext>
                </a:extLst>
              </a:tr>
              <a:tr h="67333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that appropriate error messages are displayed for failed functionality tests.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Execute functionality tests with intentional failures.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functionality tests.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48025"/>
                  </a:ext>
                </a:extLst>
              </a:tr>
              <a:tr h="592533"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errors when validating data integrity and communicate issues clearly.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Perform data integrity tests with intentional violations.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communication of data integrity issues.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617253"/>
                  </a:ext>
                </a:extLst>
              </a:tr>
              <a:tr h="430933"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messages for failed end-to-end tests.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Execute end-to-end tests with intentional failures.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error messages for failed end-to-end tests.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708526"/>
                  </a:ext>
                </a:extLst>
              </a:tr>
              <a:tr h="511732"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that errors identified during testing are logged for developers.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Log errors identified during testing.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 are logged for developer investigation.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881465"/>
                  </a:ext>
                </a:extLst>
              </a:tr>
              <a:tr h="592533"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that errors mentioned in bug reports are resolved in a timely manner.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Track and resolve reported bugs.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Reported bugs are resolved in a timely manner.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268742"/>
                  </a:ext>
                </a:extLst>
              </a:tr>
              <a:tr h="430933"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error messages for identified bugs.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N/A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Verify error messages associated with resolved bugs.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messages for resolved bugs are confirmed.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26725" marR="26725" marT="13363" marB="133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70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576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22" y="94546"/>
            <a:ext cx="8229600" cy="7295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Testing</a:t>
            </a:r>
          </a:p>
        </p:txBody>
      </p:sp>
      <p:pic>
        <p:nvPicPr>
          <p:cNvPr id="14338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00A64CF-CE2E-3C83-47E8-2A8C8DD56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" y="1388533"/>
            <a:ext cx="5447178" cy="287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A6BED-3317-F311-BC12-4CEA8B7AD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044" y="3169914"/>
            <a:ext cx="3172178" cy="1089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CB7225-28A4-3726-2048-20375FA8A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764" y="1658340"/>
            <a:ext cx="3094618" cy="136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8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21A8C4-9A3D-E57D-D461-1465B9A2B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114577"/>
              </p:ext>
            </p:extLst>
          </p:nvPr>
        </p:nvGraphicFramePr>
        <p:xfrm>
          <a:off x="1298223" y="103653"/>
          <a:ext cx="6220177" cy="4748088"/>
        </p:xfrm>
        <a:graphic>
          <a:graphicData uri="http://schemas.openxmlformats.org/drawingml/2006/table">
            <a:tbl>
              <a:tblPr/>
              <a:tblGrid>
                <a:gridCol w="3365354">
                  <a:extLst>
                    <a:ext uri="{9D8B030D-6E8A-4147-A177-3AD203B41FA5}">
                      <a16:colId xmlns:a16="http://schemas.microsoft.com/office/drawing/2014/main" val="2245255919"/>
                    </a:ext>
                  </a:extLst>
                </a:gridCol>
                <a:gridCol w="1437830">
                  <a:extLst>
                    <a:ext uri="{9D8B030D-6E8A-4147-A177-3AD203B41FA5}">
                      <a16:colId xmlns:a16="http://schemas.microsoft.com/office/drawing/2014/main" val="2937613480"/>
                    </a:ext>
                  </a:extLst>
                </a:gridCol>
                <a:gridCol w="1416993">
                  <a:extLst>
                    <a:ext uri="{9D8B030D-6E8A-4147-A177-3AD203B41FA5}">
                      <a16:colId xmlns:a16="http://schemas.microsoft.com/office/drawing/2014/main" val="2079458998"/>
                    </a:ext>
                  </a:extLst>
                </a:gridCol>
              </a:tblGrid>
              <a:tr h="307801">
                <a:tc>
                  <a:txBody>
                    <a:bodyPr/>
                    <a:lstStyle/>
                    <a:p>
                      <a:pPr fontAlgn="b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r>
                        <a:rPr lang="en-US" sz="900" b="1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 anchor="b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r>
                        <a:rPr lang="en-US" sz="900" b="1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Sahiba Khan</a:t>
                      </a:r>
                      <a:r>
                        <a:rPr lang="en-US" sz="9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 anchor="b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r>
                        <a:rPr lang="en-US" sz="900" b="1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Asfiya Misba</a:t>
                      </a:r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 anchor="b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478284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1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Sprint 1 - UI Design and Wireframing</a:t>
                      </a:r>
                      <a:r>
                        <a:rPr lang="en-US" sz="9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5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845208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Gather UI requirements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714432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Create wireframes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976684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Review and iterate designs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703626"/>
                  </a:ext>
                </a:extLst>
              </a:tr>
              <a:tr h="31883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1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Sprint 2 - Database Schema Design and Frontend/Backend Kickoff</a:t>
                      </a:r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523573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Define database structure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334098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Create entity-relationship diagram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852222"/>
                  </a:ext>
                </a:extLst>
              </a:tr>
              <a:tr h="31883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Set up development environments (Frontend and Backend)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742287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Frontend and Backend development kickoff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594999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1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Sprint 3 - Development Phase</a:t>
                      </a:r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474412"/>
                  </a:ext>
                </a:extLst>
              </a:tr>
              <a:tr h="30780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Develop User Authentication (Frontend and Backend)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706964"/>
                  </a:ext>
                </a:extLst>
              </a:tr>
              <a:tr h="31883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User Profile Screen (Frontend and Backend)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770562"/>
                  </a:ext>
                </a:extLst>
              </a:tr>
              <a:tr h="318831"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Main App Dashboard/Home Screen (Frontend and Backend)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5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9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days  </a:t>
                      </a:r>
                      <a:endParaRPr lang="en-US" sz="105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374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324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21A8C4-9A3D-E57D-D461-1465B9A2B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53077"/>
              </p:ext>
            </p:extLst>
          </p:nvPr>
        </p:nvGraphicFramePr>
        <p:xfrm>
          <a:off x="1298223" y="103653"/>
          <a:ext cx="6220177" cy="329352"/>
        </p:xfrm>
        <a:graphic>
          <a:graphicData uri="http://schemas.openxmlformats.org/drawingml/2006/table">
            <a:tbl>
              <a:tblPr/>
              <a:tblGrid>
                <a:gridCol w="3365354">
                  <a:extLst>
                    <a:ext uri="{9D8B030D-6E8A-4147-A177-3AD203B41FA5}">
                      <a16:colId xmlns:a16="http://schemas.microsoft.com/office/drawing/2014/main" val="2245255919"/>
                    </a:ext>
                  </a:extLst>
                </a:gridCol>
                <a:gridCol w="1437830">
                  <a:extLst>
                    <a:ext uri="{9D8B030D-6E8A-4147-A177-3AD203B41FA5}">
                      <a16:colId xmlns:a16="http://schemas.microsoft.com/office/drawing/2014/main" val="2937613480"/>
                    </a:ext>
                  </a:extLst>
                </a:gridCol>
                <a:gridCol w="1416993">
                  <a:extLst>
                    <a:ext uri="{9D8B030D-6E8A-4147-A177-3AD203B41FA5}">
                      <a16:colId xmlns:a16="http://schemas.microsoft.com/office/drawing/2014/main" val="2079458998"/>
                    </a:ext>
                  </a:extLst>
                </a:gridCol>
              </a:tblGrid>
              <a:tr h="307801">
                <a:tc>
                  <a:txBody>
                    <a:bodyPr/>
                    <a:lstStyle/>
                    <a:p>
                      <a:pPr fontAlgn="b"/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r>
                        <a:rPr lang="en-US" sz="900" b="1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r>
                        <a:rPr lang="en-US" sz="9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 anchor="b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r>
                        <a:rPr lang="en-US" sz="900" b="1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Sahiba Khan</a:t>
                      </a:r>
                      <a:r>
                        <a:rPr lang="en-US" sz="9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 anchor="b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r>
                        <a:rPr lang="en-US" sz="900" b="1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Asfiya Misba</a:t>
                      </a:r>
                      <a:r>
                        <a:rPr lang="en-US" sz="9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5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71" marR="32171" marT="16086" marB="16086" anchor="b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47828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AEDDBD-6A35-0222-2ABB-AD3760865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45679"/>
              </p:ext>
            </p:extLst>
          </p:nvPr>
        </p:nvGraphicFramePr>
        <p:xfrm>
          <a:off x="1298223" y="433005"/>
          <a:ext cx="6220176" cy="4305564"/>
        </p:xfrm>
        <a:graphic>
          <a:graphicData uri="http://schemas.openxmlformats.org/drawingml/2006/table">
            <a:tbl>
              <a:tblPr/>
              <a:tblGrid>
                <a:gridCol w="3364088">
                  <a:extLst>
                    <a:ext uri="{9D8B030D-6E8A-4147-A177-3AD203B41FA5}">
                      <a16:colId xmlns:a16="http://schemas.microsoft.com/office/drawing/2014/main" val="3914035415"/>
                    </a:ext>
                  </a:extLst>
                </a:gridCol>
                <a:gridCol w="1433689">
                  <a:extLst>
                    <a:ext uri="{9D8B030D-6E8A-4147-A177-3AD203B41FA5}">
                      <a16:colId xmlns:a16="http://schemas.microsoft.com/office/drawing/2014/main" val="3195677461"/>
                    </a:ext>
                  </a:extLst>
                </a:gridCol>
                <a:gridCol w="1422399">
                  <a:extLst>
                    <a:ext uri="{9D8B030D-6E8A-4147-A177-3AD203B41FA5}">
                      <a16:colId xmlns:a16="http://schemas.microsoft.com/office/drawing/2014/main" val="1937526155"/>
                    </a:ext>
                  </a:extLst>
                </a:gridCol>
              </a:tblGrid>
              <a:tr h="283260">
                <a:tc>
                  <a:txBody>
                    <a:bodyPr/>
                    <a:lstStyle/>
                    <a:p>
                      <a:pPr fontAlgn="t"/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1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Sprint 4 - User Profile Management</a:t>
                      </a:r>
                      <a:r>
                        <a:rPr lang="en-US" sz="8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97193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User Profile Display and Editing (Frontend and Backend)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418602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Logout Functionality (Frontend and Backend)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337520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Profile Creation/Editing Screen (Frontend and Backend)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310934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1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Sprint 5 - Water Intake Reminder and Fitness Goals Tracking</a:t>
                      </a:r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738937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Water Intake Reminder Settings Screen (Frontend and Backend)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517852"/>
                  </a:ext>
                </a:extLst>
              </a:tr>
              <a:tr h="283260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Design Fitness Tracking Dashboard (UI)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36685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Implement Water Intake Reminder Settings (Frontend and Backend)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27861"/>
                  </a:ext>
                </a:extLst>
              </a:tr>
              <a:tr h="283260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1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Sprint 6 – Testing, Bug Fixes and Refinement</a:t>
                      </a:r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25742"/>
                  </a:ext>
                </a:extLst>
              </a:tr>
              <a:tr h="354204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Collaborate on functionality tests, bug identification, and fixes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788132"/>
                  </a:ext>
                </a:extLst>
              </a:tr>
              <a:tr h="283260">
                <a:tc>
                  <a:txBody>
                    <a:bodyPr/>
                    <a:lstStyle/>
                    <a:p>
                      <a:pPr fontAlgn="t"/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Review and optimize code  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 days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282218"/>
                  </a:ext>
                </a:extLst>
              </a:tr>
              <a:tr h="212316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Enhance UI/UX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513431"/>
                  </a:ext>
                </a:extLst>
              </a:tr>
              <a:tr h="283260"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Conduct performance testing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800" b="0" i="0" dirty="0">
                          <a:solidFill>
                            <a:srgbClr val="37415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  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036" marR="30036" marT="15018" marB="15018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60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974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2B43-29BE-CA3D-F19F-09675171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C7D194-CB43-533E-EB72-84F111FCB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7200" y="1108728"/>
            <a:ext cx="601133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 Mode &amp; Light Mode:</a:t>
            </a:r>
            <a:endParaRPr kumimoji="0" lang="en-US" altLang="en-US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Personalized themes for comfortable viewing.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 Reduces eye strain, enhances visual appeal.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Rate Tracking:</a:t>
            </a:r>
            <a:endParaRPr kumimoji="0" lang="en-US" altLang="en-US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Real-time monitoring, customizable zones.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 Optimizes cardiovascular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Workout Video Suggestions:</a:t>
            </a:r>
            <a:endParaRPr kumimoji="0" lang="en-US" altLang="en-US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AI-driven recommendations, diverse routines.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 Engaging, personalized fitness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Diet Plans:</a:t>
            </a:r>
            <a:endParaRPr kumimoji="0" lang="en-US" altLang="en-US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Personalized meal plans, nutrient tracking.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 Supports health goals, easy dietary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322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DB0-872A-C137-AECB-44C036C6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79" y="1996016"/>
            <a:ext cx="3425122" cy="115146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Picture 3" descr="Cartoon avocado character with a jump rope&#10;&#10;Description automatically generated">
            <a:extLst>
              <a:ext uri="{FF2B5EF4-FFF2-40B4-BE49-F238E27FC236}">
                <a16:creationId xmlns:a16="http://schemas.microsoft.com/office/drawing/2014/main" id="{1D7BC2C9-9956-F9B4-1C79-6CD62AD30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176740"/>
            <a:ext cx="3425122" cy="256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64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orful letters on a black background&#10;&#10;Description automatically generated">
            <a:extLst>
              <a:ext uri="{FF2B5EF4-FFF2-40B4-BE49-F238E27FC236}">
                <a16:creationId xmlns:a16="http://schemas.microsoft.com/office/drawing/2014/main" id="{13930F0B-B005-9F74-2DF1-7EB16BAEE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326" y="883707"/>
            <a:ext cx="3187348" cy="318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57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4F58-DD1B-D505-E706-002B7B80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169C2-64A2-2F04-B4E0-F72A9BE330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 rtl="0" fontAlgn="base"/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hlinkClick r:id="rId2"/>
              </a:rPr>
              <a:t>https://www.clearpointstrategy.com/blog/18-key-performance-indicators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1800" b="0" i="0" dirty="0">
              <a:effectLst/>
              <a:latin typeface="Calibri" panose="020F0502020204030204" pitchFamily="34" charset="0"/>
            </a:endParaRPr>
          </a:p>
          <a:p>
            <a:pPr algn="l" rtl="0" fontAlgn="base"/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hlinkClick r:id="rId3"/>
              </a:rPr>
              <a:t>https://www.investopedia.com/terms/k/kpi.asp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b="0" i="0" dirty="0">
              <a:effectLst/>
            </a:endParaRPr>
          </a:p>
          <a:p>
            <a:pPr algn="l" rtl="0" fontAlgn="base"/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hlinkClick r:id="rId4"/>
              </a:rPr>
              <a:t>https://confluence.atlassian.com/jira</a:t>
            </a:r>
            <a:r>
              <a:rPr lang="en-US" sz="1800" b="0" i="0" dirty="0">
                <a:effectLst/>
                <a:latin typeface="Times New Roman" panose="02020603050405020304" pitchFamily="18" charset="0"/>
              </a:rPr>
              <a:t> </a:t>
            </a:r>
            <a:endParaRPr lang="en-US" b="0" i="0" dirty="0">
              <a:effectLst/>
            </a:endParaRPr>
          </a:p>
          <a:p>
            <a:pPr algn="l" rtl="0" fontAlgn="base"/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hlinkClick r:id="rId5"/>
              </a:rPr>
              <a:t>https://perpet.io/blog/what-should-be-ui-ux-design-of-fitness-app/</a:t>
            </a:r>
            <a:r>
              <a:rPr lang="en-US" sz="1800" b="0" i="0" dirty="0">
                <a:effectLst/>
                <a:latin typeface="Times New Roman" panose="02020603050405020304" pitchFamily="18" charset="0"/>
              </a:rPr>
              <a:t> </a:t>
            </a:r>
            <a:endParaRPr lang="en-US" b="0" i="0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641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thank you sign&#10;&#10;Description automatically generated">
            <a:extLst>
              <a:ext uri="{FF2B5EF4-FFF2-40B4-BE49-F238E27FC236}">
                <a16:creationId xmlns:a16="http://schemas.microsoft.com/office/drawing/2014/main" id="{65B786DA-3A09-3D97-C5C8-0E0A56B7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151" y="835377"/>
            <a:ext cx="3193697" cy="319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5623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1158</TotalTime>
  <Words>2387</Words>
  <Application>Microsoft Office PowerPoint</Application>
  <PresentationFormat>On-screen Show (16:9)</PresentationFormat>
  <Paragraphs>529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Helvetica</vt:lpstr>
      <vt:lpstr>Times New Roman</vt:lpstr>
      <vt:lpstr>Wingdings</vt:lpstr>
      <vt:lpstr>UTA Accessible Template</vt:lpstr>
      <vt:lpstr>HealthMate</vt:lpstr>
      <vt:lpstr>Agenda</vt:lpstr>
      <vt:lpstr>Introduction</vt:lpstr>
      <vt:lpstr>SDLC Model - Agile</vt:lpstr>
      <vt:lpstr>Planning WBS</vt:lpstr>
      <vt:lpstr>Planning - Gantt Chart</vt:lpstr>
      <vt:lpstr>Design – ER Diagram</vt:lpstr>
      <vt:lpstr>Design - Flowchart</vt:lpstr>
      <vt:lpstr>Burndown Charts</vt:lpstr>
      <vt:lpstr>Burndown Charts</vt:lpstr>
      <vt:lpstr>Burndown Charts</vt:lpstr>
      <vt:lpstr>Implementation</vt:lpstr>
      <vt:lpstr>Modules</vt:lpstr>
      <vt:lpstr>Manual Testing – Sprint 1</vt:lpstr>
      <vt:lpstr>Manual Testing – Sprint 2</vt:lpstr>
      <vt:lpstr>Manual Testing – Sprint 3</vt:lpstr>
      <vt:lpstr>Manual Testing – Sprint 4</vt:lpstr>
      <vt:lpstr>Manual Testing – Sprint 5</vt:lpstr>
      <vt:lpstr>Manual Testing – Sprint 6</vt:lpstr>
      <vt:lpstr>Automation Testing</vt:lpstr>
      <vt:lpstr>PowerPoint Presentation</vt:lpstr>
      <vt:lpstr>PowerPoint Presentation</vt:lpstr>
      <vt:lpstr>Future Scope</vt:lpstr>
      <vt:lpstr>Demo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Asfiya Misba</cp:lastModifiedBy>
  <cp:revision>103</cp:revision>
  <dcterms:created xsi:type="dcterms:W3CDTF">2021-08-31T19:16:02Z</dcterms:created>
  <dcterms:modified xsi:type="dcterms:W3CDTF">2023-11-27T21:10:31Z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